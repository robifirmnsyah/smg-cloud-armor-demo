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9728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2926080"/>
          </a:xfrm>
          <a:prstGeom prst="rect">
            <a:avLst/>
          </a:prstGeom>
          <a:noFill/>
        </p:spPr>
        <p:txBody>
          <a:bodyPr wrap="square">
            <a:spAutoFit/>
          </a:bodyPr>
          <a:lstStyle/>
          <a:p>
            <a:pPr>
              <a:spcAft>
                <a:spcPts val="1400"/>
              </a:spcAft>
              <a:defRPr sz="3600" b="1">
                <a:solidFill>
                  <a:srgbClr val="0F172A"/>
                </a:solidFill>
              </a:defRPr>
            </a:pPr>
            <a:r>
              <a:t>Google Cloud Armor Enterprise WAF &amp;</a:t>
            </a:r>
            <a:br/>
            <a:r>
              <a:t>Layer 7 DDoS Mitigation Architecture</a:t>
            </a:r>
          </a:p>
          <a:p>
            <a:pPr>
              <a:defRPr sz="1650">
                <a:solidFill>
                  <a:srgbClr val="64748B"/>
                </a:solidFill>
              </a:defRPr>
            </a:pPr>
            <a:r>
              <a:t>Edge-Native Threat Protection, OWASP Top 10 Mitigation &amp; Zero-Trust Infrastructure on Google Cloud</a:t>
            </a:r>
          </a:p>
        </p:txBody>
      </p:sp>
      <p:sp>
        <p:nvSpPr>
          <p:cNvPr id="5" name="TextBox 4"/>
          <p:cNvSpPr txBox="1"/>
          <p:nvPr/>
        </p:nvSpPr>
        <p:spPr>
          <a:xfrm>
            <a:off x="731520" y="4846320"/>
            <a:ext cx="10058400" cy="1371600"/>
          </a:xfrm>
          <a:prstGeom prst="rect">
            <a:avLst/>
          </a:prstGeom>
          <a:noFill/>
        </p:spPr>
        <p:txBody>
          <a:bodyPr wrap="square">
            <a:spAutoFit/>
          </a:bodyPr>
          <a:lstStyle/>
          <a:p>
            <a:pPr>
              <a:spcAft>
                <a:spcPts val="300"/>
              </a:spcAft>
              <a:defRPr sz="1400" b="1">
                <a:solidFill>
                  <a:srgbClr val="0284C7"/>
                </a:solidFill>
              </a:defRPr>
            </a:pPr>
            <a:r>
              <a:t>PT Smartnet Magna Global (SMG) • Google Cloud Premier Partner</a:t>
            </a:r>
          </a:p>
          <a:p>
            <a:pPr>
              <a:defRPr sz="1250">
                <a:solidFill>
                  <a:srgbClr val="64748B"/>
                </a:solidFill>
              </a:defRPr>
            </a:pPr>
            <a:r>
              <a:t>Enterprise Cloud Solutions &amp; Cybersecurity  |  Robi Firmansyah – Cloud Engineer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0284C7"/>
                </a:solidFill>
              </a:defRPr>
            </a:pPr>
            <a:r>
              <a:t>STRATEGIC OVERVIEW</a:t>
            </a:r>
          </a:p>
        </p:txBody>
      </p:sp>
      <p:sp>
        <p:nvSpPr>
          <p:cNvPr id="4" name="TextBox 3"/>
          <p:cNvSpPr txBox="1"/>
          <p:nvPr/>
        </p:nvSpPr>
        <p:spPr>
          <a:xfrm>
            <a:off x="731520" y="658368"/>
            <a:ext cx="10698480" cy="731520"/>
          </a:xfrm>
          <a:prstGeom prst="rect">
            <a:avLst/>
          </a:prstGeom>
          <a:noFill/>
        </p:spPr>
        <p:txBody>
          <a:bodyPr wrap="square">
            <a:spAutoFit/>
          </a:bodyPr>
          <a:lstStyle/>
          <a:p>
            <a:pPr>
              <a:defRPr sz="2200" b="1">
                <a:solidFill>
                  <a:srgbClr val="0F172A"/>
                </a:solidFill>
              </a:defRPr>
            </a:pPr>
            <a:r>
              <a:t>Executive Overview: Edge-Native Security Meets Global Resilience</a:t>
            </a:r>
          </a:p>
        </p:txBody>
      </p:sp>
      <p:sp>
        <p:nvSpPr>
          <p:cNvPr id="5" name="Rounded Rectangle 4"/>
          <p:cNvSpPr/>
          <p:nvPr/>
        </p:nvSpPr>
        <p:spPr>
          <a:xfrm>
            <a:off x="731520" y="1645920"/>
            <a:ext cx="3328416"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71216" cy="4114800"/>
          </a:xfrm>
          <a:prstGeom prst="rect">
            <a:avLst/>
          </a:prstGeom>
          <a:noFill/>
        </p:spPr>
        <p:txBody>
          <a:bodyPr wrap="square">
            <a:spAutoFit/>
          </a:bodyPr>
          <a:lstStyle/>
          <a:p>
            <a:pPr>
              <a:spcAft>
                <a:spcPts val="1000"/>
              </a:spcAft>
              <a:defRPr sz="1050" b="1">
                <a:solidFill>
                  <a:srgbClr val="0284C7"/>
                </a:solidFill>
              </a:defRPr>
            </a:pPr>
            <a:r>
              <a:t>01. BUSINESS MANDATE</a:t>
            </a:r>
          </a:p>
          <a:p>
            <a:pPr>
              <a:spcAft>
                <a:spcPts val="1200"/>
              </a:spcAft>
              <a:defRPr sz="1600" b="1">
                <a:solidFill>
                  <a:srgbClr val="0F172A"/>
                </a:solidFill>
              </a:defRPr>
            </a:pPr>
            <a:r>
              <a:t>Defense at the Global Edge</a:t>
            </a:r>
          </a:p>
          <a:p>
            <a:pPr>
              <a:defRPr sz="1200">
                <a:solidFill>
                  <a:srgbClr val="64748B"/>
                </a:solidFill>
              </a:defRPr>
            </a:pPr>
            <a:r>
              <a:t>Modern public-facing web applications face unrelenting volumetric floods, bot scrapers, and sophisticated OWASP Top 10 exploits. Enterprises require perimeter filtering directly at the edge—stopping threats before malicious packets reach VPC boundaries or backend compute.</a:t>
            </a:r>
          </a:p>
        </p:txBody>
      </p:sp>
      <p:sp>
        <p:nvSpPr>
          <p:cNvPr id="7" name="Rounded Rectangle 6"/>
          <p:cNvSpPr/>
          <p:nvPr/>
        </p:nvSpPr>
        <p:spPr>
          <a:xfrm>
            <a:off x="4425696" y="1645920"/>
            <a:ext cx="3328416"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4296" y="1828800"/>
            <a:ext cx="2871216" cy="4114800"/>
          </a:xfrm>
          <a:prstGeom prst="rect">
            <a:avLst/>
          </a:prstGeom>
          <a:noFill/>
        </p:spPr>
        <p:txBody>
          <a:bodyPr wrap="square">
            <a:spAutoFit/>
          </a:bodyPr>
          <a:lstStyle/>
          <a:p>
            <a:pPr>
              <a:spcAft>
                <a:spcPts val="1000"/>
              </a:spcAft>
              <a:defRPr sz="1050" b="1">
                <a:solidFill>
                  <a:srgbClr val="0284C7"/>
                </a:solidFill>
              </a:defRPr>
            </a:pPr>
            <a:r>
              <a:t>02. ARCHITECTURAL BLUEPRINT</a:t>
            </a:r>
          </a:p>
          <a:p>
            <a:pPr>
              <a:spcAft>
                <a:spcPts val="1200"/>
              </a:spcAft>
              <a:defRPr sz="1600" b="1">
                <a:solidFill>
                  <a:srgbClr val="0F172A"/>
                </a:solidFill>
              </a:defRPr>
            </a:pPr>
            <a:r>
              <a:t>Native Cloud Armor &amp; ALB</a:t>
            </a:r>
          </a:p>
          <a:p>
            <a:pPr>
              <a:defRPr sz="1200">
                <a:solidFill>
                  <a:srgbClr val="64748B"/>
                </a:solidFill>
              </a:defRPr>
            </a:pPr>
            <a:r>
              <a:t>Combines Google Global External Application Load Balancing (Global Anycast IP 136.82.2.121), Google-managed SSL/TLS termination, and Cloud Armor WAF. Incorporates ModSecurity Core Rule Set v3.3 preconfigured expressions and automated Layer 7 rate-based IP quarantine.</a:t>
            </a:r>
          </a:p>
        </p:txBody>
      </p:sp>
      <p:sp>
        <p:nvSpPr>
          <p:cNvPr id="9" name="Rounded Rectangle 8"/>
          <p:cNvSpPr/>
          <p:nvPr/>
        </p:nvSpPr>
        <p:spPr>
          <a:xfrm>
            <a:off x="8119872" y="1645920"/>
            <a:ext cx="3328416"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1828800"/>
            <a:ext cx="2871216" cy="4114800"/>
          </a:xfrm>
          <a:prstGeom prst="rect">
            <a:avLst/>
          </a:prstGeom>
          <a:noFill/>
        </p:spPr>
        <p:txBody>
          <a:bodyPr wrap="square">
            <a:spAutoFit/>
          </a:bodyPr>
          <a:lstStyle/>
          <a:p>
            <a:pPr>
              <a:spcAft>
                <a:spcPts val="1000"/>
              </a:spcAft>
              <a:defRPr sz="1050" b="1">
                <a:solidFill>
                  <a:srgbClr val="0284C7"/>
                </a:solidFill>
              </a:defRPr>
            </a:pPr>
            <a:r>
              <a:t>03. OPERATIONAL EXCELLENCE</a:t>
            </a:r>
          </a:p>
          <a:p>
            <a:pPr>
              <a:spcAft>
                <a:spcPts val="1200"/>
              </a:spcAft>
              <a:defRPr sz="1600" b="1">
                <a:solidFill>
                  <a:srgbClr val="0F172A"/>
                </a:solidFill>
              </a:defRPr>
            </a:pPr>
            <a:r>
              <a:t>100% Codified Infrastructure (IaC)</a:t>
            </a:r>
          </a:p>
          <a:p>
            <a:pPr>
              <a:defRPr sz="1200">
                <a:solidFill>
                  <a:srgbClr val="64748B"/>
                </a:solidFill>
              </a:defRPr>
            </a:pPr>
            <a:r>
              <a:t>Provisioned entirely via modular HashiCorp Terraform in under 10 minutes. Includes zero public IP backend instances in Jakarta, regional Envoy proxy subnets, automated multi-stage attack simulations, and an interactive web playground for real-time validation.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0284C7"/>
                </a:solidFill>
              </a:defRPr>
            </a:pPr>
            <a:r>
              <a:t>MARKET CHALLENGES</a:t>
            </a:r>
          </a:p>
        </p:txBody>
      </p:sp>
      <p:sp>
        <p:nvSpPr>
          <p:cNvPr id="4" name="TextBox 3"/>
          <p:cNvSpPr txBox="1"/>
          <p:nvPr/>
        </p:nvSpPr>
        <p:spPr>
          <a:xfrm>
            <a:off x="731520" y="658368"/>
            <a:ext cx="10698480" cy="731520"/>
          </a:xfrm>
          <a:prstGeom prst="rect">
            <a:avLst/>
          </a:prstGeom>
          <a:noFill/>
        </p:spPr>
        <p:txBody>
          <a:bodyPr wrap="square">
            <a:spAutoFit/>
          </a:bodyPr>
          <a:lstStyle/>
          <a:p>
            <a:pPr>
              <a:defRPr sz="2200" b="1">
                <a:solidFill>
                  <a:srgbClr val="0F172A"/>
                </a:solidFill>
              </a:defRPr>
            </a:pPr>
            <a:r>
              <a:t>The Trilemma of Modern Web Application Security</a:t>
            </a:r>
          </a:p>
        </p:txBody>
      </p:sp>
      <p:sp>
        <p:nvSpPr>
          <p:cNvPr id="5" name="Rounded Rectangle 4"/>
          <p:cNvSpPr/>
          <p:nvPr/>
        </p:nvSpPr>
        <p:spPr>
          <a:xfrm>
            <a:off x="731520" y="1645920"/>
            <a:ext cx="3328416"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71216" cy="4114800"/>
          </a:xfrm>
          <a:prstGeom prst="rect">
            <a:avLst/>
          </a:prstGeom>
          <a:noFill/>
        </p:spPr>
        <p:txBody>
          <a:bodyPr wrap="square">
            <a:spAutoFit/>
          </a:bodyPr>
          <a:lstStyle/>
          <a:p>
            <a:pPr>
              <a:spcAft>
                <a:spcPts val="1000"/>
              </a:spcAft>
              <a:defRPr sz="1050" b="1">
                <a:solidFill>
                  <a:srgbClr val="0284C7"/>
                </a:solidFill>
              </a:defRPr>
            </a:pPr>
            <a:r>
              <a:t>OWASP TOP 10 &amp; INJECTION</a:t>
            </a:r>
          </a:p>
          <a:p>
            <a:pPr>
              <a:spcAft>
                <a:spcPts val="1200"/>
              </a:spcAft>
              <a:defRPr sz="1600" b="1">
                <a:solidFill>
                  <a:srgbClr val="0F172A"/>
                </a:solidFill>
              </a:defRPr>
            </a:pPr>
            <a:r>
              <a:t>Sophisticated Layer 7 Attacks</a:t>
            </a:r>
          </a:p>
          <a:p>
            <a:pPr>
              <a:defRPr sz="1200">
                <a:solidFill>
                  <a:srgbClr val="64748B"/>
                </a:solidFill>
              </a:defRPr>
            </a:pPr>
            <a:r>
              <a:t>SQL Injection, Cross-Site Scripting (XSS), Remote Code Execution (RCE), and Path Traversal bypass traditional network firewalls by disguising themselves within valid HTTP/HTTPS requests, threatening customer database integrity and application availability.</a:t>
            </a:r>
          </a:p>
        </p:txBody>
      </p:sp>
      <p:sp>
        <p:nvSpPr>
          <p:cNvPr id="7" name="Rounded Rectangle 6"/>
          <p:cNvSpPr/>
          <p:nvPr/>
        </p:nvSpPr>
        <p:spPr>
          <a:xfrm>
            <a:off x="4425696" y="1645920"/>
            <a:ext cx="3328416"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4296" y="1828800"/>
            <a:ext cx="2871216" cy="4114800"/>
          </a:xfrm>
          <a:prstGeom prst="rect">
            <a:avLst/>
          </a:prstGeom>
          <a:noFill/>
        </p:spPr>
        <p:txBody>
          <a:bodyPr wrap="square">
            <a:spAutoFit/>
          </a:bodyPr>
          <a:lstStyle/>
          <a:p>
            <a:pPr>
              <a:spcAft>
                <a:spcPts val="1000"/>
              </a:spcAft>
              <a:defRPr sz="1050" b="1">
                <a:solidFill>
                  <a:srgbClr val="0284C7"/>
                </a:solidFill>
              </a:defRPr>
            </a:pPr>
            <a:r>
              <a:t>VOLUMETRIC L7 FLOODS</a:t>
            </a:r>
          </a:p>
          <a:p>
            <a:pPr>
              <a:spcAft>
                <a:spcPts val="1200"/>
              </a:spcAft>
              <a:defRPr sz="1600" b="1">
                <a:solidFill>
                  <a:srgbClr val="0F172A"/>
                </a:solidFill>
              </a:defRPr>
            </a:pPr>
            <a:r>
              <a:t>Application Exhaustion &amp; DDoS</a:t>
            </a:r>
          </a:p>
          <a:p>
            <a:pPr>
              <a:defRPr sz="1200">
                <a:solidFill>
                  <a:srgbClr val="64748B"/>
                </a:solidFill>
              </a:defRPr>
            </a:pPr>
            <a:r>
              <a:t>Attackers leverage distributed botnets to flood search endpoints and API gateways with bursts of rapid requests. Without automated rate limiting and IP banning, backend web servers suffer CPU starvation, connection exhaustion, and skyrocketing cloud bills.</a:t>
            </a:r>
          </a:p>
        </p:txBody>
      </p:sp>
      <p:sp>
        <p:nvSpPr>
          <p:cNvPr id="9" name="Rounded Rectangle 8"/>
          <p:cNvSpPr/>
          <p:nvPr/>
        </p:nvSpPr>
        <p:spPr>
          <a:xfrm>
            <a:off x="8119872" y="1645920"/>
            <a:ext cx="3328416"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1828800"/>
            <a:ext cx="2871216" cy="4114800"/>
          </a:xfrm>
          <a:prstGeom prst="rect">
            <a:avLst/>
          </a:prstGeom>
          <a:noFill/>
        </p:spPr>
        <p:txBody>
          <a:bodyPr wrap="square">
            <a:spAutoFit/>
          </a:bodyPr>
          <a:lstStyle/>
          <a:p>
            <a:pPr>
              <a:spcAft>
                <a:spcPts val="1000"/>
              </a:spcAft>
              <a:defRPr sz="1050" b="1">
                <a:solidFill>
                  <a:srgbClr val="0284C7"/>
                </a:solidFill>
              </a:defRPr>
            </a:pPr>
            <a:r>
              <a:t>APPLIANCE BOTTLENECK &amp; TCO</a:t>
            </a:r>
          </a:p>
          <a:p>
            <a:pPr>
              <a:spcAft>
                <a:spcPts val="1200"/>
              </a:spcAft>
              <a:defRPr sz="1600" b="1">
                <a:solidFill>
                  <a:srgbClr val="0F172A"/>
                </a:solidFill>
              </a:defRPr>
            </a:pPr>
            <a:r>
              <a:t>High Cost &amp; Latency Penalties</a:t>
            </a:r>
          </a:p>
          <a:p>
            <a:pPr>
              <a:defRPr sz="1200">
                <a:solidFill>
                  <a:srgbClr val="64748B"/>
                </a:solidFill>
              </a:defRPr>
            </a:pPr>
            <a:r>
              <a:t>Traditional virtual firewall appliances (VM NGFWs) and legacy hardware WAFs introduce severe performance bottlenecks (50–200ms latency), require expensive multi-gigabit throughput licensing, and demand complex multi-VPC sandwich maintenance.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0284C7"/>
                </a:solidFill>
              </a:defRPr>
            </a:pPr>
            <a:r>
              <a:t>FULL ARCHITECTURE BLUEPRINT</a:t>
            </a:r>
          </a:p>
        </p:txBody>
      </p:sp>
      <p:sp>
        <p:nvSpPr>
          <p:cNvPr id="4" name="TextBox 3"/>
          <p:cNvSpPr txBox="1"/>
          <p:nvPr/>
        </p:nvSpPr>
        <p:spPr>
          <a:xfrm>
            <a:off x="731520" y="658368"/>
            <a:ext cx="10698480" cy="731520"/>
          </a:xfrm>
          <a:prstGeom prst="rect">
            <a:avLst/>
          </a:prstGeom>
          <a:noFill/>
        </p:spPr>
        <p:txBody>
          <a:bodyPr wrap="square">
            <a:spAutoFit/>
          </a:bodyPr>
          <a:lstStyle/>
          <a:p>
            <a:pPr>
              <a:defRPr sz="2200" b="1">
                <a:solidFill>
                  <a:srgbClr val="0F172A"/>
                </a:solidFill>
              </a:defRPr>
            </a:pPr>
            <a:r>
              <a:t>System Architecture Blueprint: End-to-End Edge Defense</a:t>
            </a:r>
          </a:p>
        </p:txBody>
      </p:sp>
      <p:pic>
        <p:nvPicPr>
          <p:cNvPr id="5" name="Picture 4" descr="architecture_diagram_armor_light.png"/>
          <p:cNvPicPr>
            <a:picLocks noChangeAspect="1"/>
          </p:cNvPicPr>
          <p:nvPr/>
        </p:nvPicPr>
        <p:blipFill>
          <a:blip r:embed="rId2"/>
          <a:stretch>
            <a:fillRect/>
          </a:stretch>
        </p:blipFill>
        <p:spPr>
          <a:xfrm>
            <a:off x="731520" y="1600200"/>
            <a:ext cx="7772400" cy="4857750"/>
          </a:xfrm>
          <a:prstGeom prst="rect">
            <a:avLst/>
          </a:prstGeom>
        </p:spPr>
      </p:pic>
      <p:sp>
        <p:nvSpPr>
          <p:cNvPr id="6" name="Rounded Rectangle 5"/>
          <p:cNvSpPr/>
          <p:nvPr/>
        </p:nvSpPr>
        <p:spPr>
          <a:xfrm>
            <a:off x="8732520" y="1600200"/>
            <a:ext cx="2724912" cy="47091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15400" y="1737360"/>
            <a:ext cx="2359152" cy="4389120"/>
          </a:xfrm>
          <a:prstGeom prst="rect">
            <a:avLst/>
          </a:prstGeom>
          <a:noFill/>
        </p:spPr>
        <p:txBody>
          <a:bodyPr wrap="square">
            <a:spAutoFit/>
          </a:bodyPr>
          <a:lstStyle/>
          <a:p>
            <a:pPr>
              <a:spcAft>
                <a:spcPts val="800"/>
              </a:spcAft>
              <a:defRPr sz="1150" b="1">
                <a:solidFill>
                  <a:srgbClr val="0284C7"/>
                </a:solidFill>
              </a:defRPr>
            </a:pPr>
            <a:r>
              <a:t>CORE COMPONENTS</a:t>
            </a:r>
          </a:p>
          <a:p>
            <a:pPr>
              <a:spcAft>
                <a:spcPts val="400"/>
              </a:spcAft>
              <a:defRPr sz="1050" b="1">
                <a:solidFill>
                  <a:srgbClr val="0F172A"/>
                </a:solidFill>
              </a:defRPr>
            </a:pPr>
            <a:r>
              <a:t>• Global Anycast ALB: </a:t>
            </a:r>
            <a:r>
              <a:rPr b="0" sz="950">
                <a:solidFill>
                  <a:srgbClr val="64748B"/>
                </a:solidFill>
              </a:rPr>
              <a:t>Single virtual IP (136.82.2.121) announced globally across 100+ Google Edge PoPs.</a:t>
            </a:r>
          </a:p>
          <a:p>
            <a:pPr>
              <a:spcAft>
                <a:spcPts val="400"/>
              </a:spcAft>
              <a:defRPr sz="1050" b="1">
                <a:solidFill>
                  <a:srgbClr val="0F172A"/>
                </a:solidFill>
              </a:defRPr>
            </a:pPr>
            <a:r>
              <a:t>• Cloud Armor WAF: </a:t>
            </a:r>
            <a:r>
              <a:rPr b="0" sz="950">
                <a:solidFill>
                  <a:srgbClr val="64748B"/>
                </a:solidFill>
              </a:rPr>
              <a:t>Enterprise security policy inspecting OWASP Top 10 payloads at line rate.</a:t>
            </a:r>
          </a:p>
          <a:p>
            <a:pPr>
              <a:spcAft>
                <a:spcPts val="400"/>
              </a:spcAft>
              <a:defRPr sz="1050" b="1">
                <a:solidFill>
                  <a:srgbClr val="0F172A"/>
                </a:solidFill>
              </a:defRPr>
            </a:pPr>
            <a:r>
              <a:t>• Layer 7 Rate Ban: </a:t>
            </a:r>
            <a:r>
              <a:rPr b="0" sz="950">
                <a:solidFill>
                  <a:srgbClr val="64748B"/>
                </a:solidFill>
              </a:rPr>
              <a:t>Automated 300s quarantine for abusive IPs exceeding 50 req/min.</a:t>
            </a:r>
          </a:p>
          <a:p>
            <a:pPr>
              <a:spcAft>
                <a:spcPts val="400"/>
              </a:spcAft>
              <a:defRPr sz="1050" b="1">
                <a:solidFill>
                  <a:srgbClr val="0F172A"/>
                </a:solidFill>
              </a:defRPr>
            </a:pPr>
            <a:r>
              <a:t>• Managed SSL Cert: </a:t>
            </a:r>
            <a:r>
              <a:rPr b="0" sz="950">
                <a:solidFill>
                  <a:srgbClr val="64748B"/>
                </a:solidFill>
              </a:rPr>
              <a:t>Active Google-managed TLS 1.3 cert for armor.cloudwithmagna.com.</a:t>
            </a:r>
          </a:p>
          <a:p>
            <a:pPr>
              <a:spcAft>
                <a:spcPts val="400"/>
              </a:spcAft>
              <a:defRPr sz="1050" b="1">
                <a:solidFill>
                  <a:srgbClr val="0F172A"/>
                </a:solidFill>
              </a:defRPr>
            </a:pPr>
            <a:r>
              <a:t>• Managed Proxy Subnet: </a:t>
            </a:r>
            <a:r>
              <a:rPr b="0" sz="950">
                <a:solidFill>
                  <a:srgbClr val="64748B"/>
                </a:solidFill>
              </a:rPr>
              <a:t>Dedicated 10.30.1.0/24 subnet decoupling TLS from backend instances.</a:t>
            </a:r>
          </a:p>
          <a:p>
            <a:pPr>
              <a:spcAft>
                <a:spcPts val="400"/>
              </a:spcAft>
              <a:defRPr sz="1050" b="1">
                <a:solidFill>
                  <a:srgbClr val="0F172A"/>
                </a:solidFill>
              </a:defRPr>
            </a:pPr>
            <a:r>
              <a:t>• Zero-Public Backends: </a:t>
            </a:r>
            <a:r>
              <a:rPr b="0" sz="950">
                <a:solidFill>
                  <a:srgbClr val="64748B"/>
                </a:solidFill>
              </a:rPr>
              <a:t>Managed Instance Group Ubuntu VMs isolated in private 10.30.0.0/24 subnet.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0284C7"/>
                </a:solidFill>
              </a:defRPr>
            </a:pPr>
            <a:r>
              <a:t>WAF SECURITY MATRIX</a:t>
            </a:r>
          </a:p>
        </p:txBody>
      </p:sp>
      <p:sp>
        <p:nvSpPr>
          <p:cNvPr id="4" name="TextBox 3"/>
          <p:cNvSpPr txBox="1"/>
          <p:nvPr/>
        </p:nvSpPr>
        <p:spPr>
          <a:xfrm>
            <a:off x="731520" y="658368"/>
            <a:ext cx="10698480" cy="731520"/>
          </a:xfrm>
          <a:prstGeom prst="rect">
            <a:avLst/>
          </a:prstGeom>
          <a:noFill/>
        </p:spPr>
        <p:txBody>
          <a:bodyPr wrap="square">
            <a:spAutoFit/>
          </a:bodyPr>
          <a:lstStyle/>
          <a:p>
            <a:pPr>
              <a:defRPr sz="2200" b="1">
                <a:solidFill>
                  <a:srgbClr val="0F172A"/>
                </a:solidFill>
              </a:defRPr>
            </a:pPr>
            <a:r>
              <a:t>Cloud Armor Preconfigured Rules: OWASP Top 10 Defense</a:t>
            </a:r>
          </a:p>
        </p:txBody>
      </p:sp>
      <p:pic>
        <p:nvPicPr>
          <p:cNvPr id="5" name="Picture 4" descr="waf_rules_matrix_light.png"/>
          <p:cNvPicPr>
            <a:picLocks noChangeAspect="1"/>
          </p:cNvPicPr>
          <p:nvPr/>
        </p:nvPicPr>
        <p:blipFill>
          <a:blip r:embed="rId2"/>
          <a:stretch>
            <a:fillRect/>
          </a:stretch>
        </p:blipFill>
        <p:spPr>
          <a:xfrm>
            <a:off x="731520" y="1600200"/>
            <a:ext cx="7772400" cy="4041648"/>
          </a:xfrm>
          <a:prstGeom prst="rect">
            <a:avLst/>
          </a:prstGeom>
        </p:spPr>
      </p:pic>
      <p:sp>
        <p:nvSpPr>
          <p:cNvPr id="6" name="Rounded Rectangle 5"/>
          <p:cNvSpPr/>
          <p:nvPr/>
        </p:nvSpPr>
        <p:spPr>
          <a:xfrm>
            <a:off x="8732520" y="1600200"/>
            <a:ext cx="2724912" cy="47091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15400" y="1737360"/>
            <a:ext cx="2359152" cy="4389120"/>
          </a:xfrm>
          <a:prstGeom prst="rect">
            <a:avLst/>
          </a:prstGeom>
          <a:noFill/>
        </p:spPr>
        <p:txBody>
          <a:bodyPr wrap="square">
            <a:spAutoFit/>
          </a:bodyPr>
          <a:lstStyle/>
          <a:p>
            <a:pPr>
              <a:spcAft>
                <a:spcPts val="800"/>
              </a:spcAft>
              <a:defRPr sz="1150" b="1">
                <a:solidFill>
                  <a:srgbClr val="0284C7"/>
                </a:solidFill>
              </a:defRPr>
            </a:pPr>
            <a:r>
              <a:t>RULE SPECIFICATIONS</a:t>
            </a:r>
          </a:p>
          <a:p>
            <a:pPr>
              <a:spcAft>
                <a:spcPts val="500"/>
              </a:spcAft>
              <a:defRPr sz="1050" b="1">
                <a:solidFill>
                  <a:srgbClr val="0F172A"/>
                </a:solidFill>
              </a:defRPr>
            </a:pPr>
            <a:r>
              <a:t>• Priority 1000: SQLi:</a:t>
            </a:r>
            <a:br/>
            <a:r>
              <a:rPr b="0" sz="950">
                <a:solidFill>
                  <a:srgbClr val="64748B"/>
                </a:solidFill>
              </a:rPr>
              <a:t>Evaluates sqli-v33-stable. Neutralizes boolean injection, UNION exploits, and tautologies.</a:t>
            </a:r>
          </a:p>
          <a:p>
            <a:pPr>
              <a:spcAft>
                <a:spcPts val="500"/>
              </a:spcAft>
              <a:defRPr sz="1050" b="1">
                <a:solidFill>
                  <a:srgbClr val="0F172A"/>
                </a:solidFill>
              </a:defRPr>
            </a:pPr>
            <a:r>
              <a:t>• Priority 1010: XSS:</a:t>
            </a:r>
            <a:br/>
            <a:r>
              <a:rPr b="0" sz="950">
                <a:solidFill>
                  <a:srgbClr val="64748B"/>
                </a:solidFill>
              </a:rPr>
              <a:t>Evaluates xss-v33-stable. Filters &lt;script&gt; tags, JS event handlers, and DOM-based attacks.</a:t>
            </a:r>
          </a:p>
          <a:p>
            <a:pPr>
              <a:spcAft>
                <a:spcPts val="500"/>
              </a:spcAft>
              <a:defRPr sz="1050" b="1">
                <a:solidFill>
                  <a:srgbClr val="0F172A"/>
                </a:solidFill>
              </a:defRPr>
            </a:pPr>
            <a:r>
              <a:t>• Priority 1020: LFI/RFI:</a:t>
            </a:r>
            <a:br/>
            <a:r>
              <a:rPr b="0" sz="950">
                <a:solidFill>
                  <a:srgbClr val="64748B"/>
                </a:solidFill>
              </a:rPr>
              <a:t>Evaluates lfi/rfi-v33-stable. Blocks directory traversal (../etc/passwd) and remote file includes.</a:t>
            </a:r>
          </a:p>
          <a:p>
            <a:pPr>
              <a:spcAft>
                <a:spcPts val="500"/>
              </a:spcAft>
              <a:defRPr sz="1050" b="1">
                <a:solidFill>
                  <a:srgbClr val="0F172A"/>
                </a:solidFill>
              </a:defRPr>
            </a:pPr>
            <a:r>
              <a:t>• Priority 1030: RCE:</a:t>
            </a:r>
            <a:br/>
            <a:r>
              <a:rPr b="0" sz="950">
                <a:solidFill>
                  <a:srgbClr val="64748B"/>
                </a:solidFill>
              </a:rPr>
              <a:t>Evaluates rce-v33-stable. Halts shell command injection, semicolons, and pipes.</a:t>
            </a:r>
          </a:p>
          <a:p>
            <a:pPr>
              <a:spcAft>
                <a:spcPts val="500"/>
              </a:spcAft>
              <a:defRPr sz="1050" b="1">
                <a:solidFill>
                  <a:srgbClr val="0F172A"/>
                </a:solidFill>
              </a:defRPr>
            </a:pPr>
            <a:r>
              <a:t>• Priority 1040: Scanners:</a:t>
            </a:r>
            <a:br/>
            <a:r>
              <a:rPr b="0" sz="950">
                <a:solidFill>
                  <a:srgbClr val="64748B"/>
                </a:solidFill>
              </a:rPr>
              <a:t>Evaluates scannerdetection-v33. Blocks sqlmap, Nikto, Nessus, and automated crawlers.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0284C7"/>
                </a:solidFill>
              </a:defRPr>
            </a:pPr>
            <a:r>
              <a:t>TOPOLOGY &amp; NETWORK SECURITY</a:t>
            </a:r>
          </a:p>
        </p:txBody>
      </p:sp>
      <p:sp>
        <p:nvSpPr>
          <p:cNvPr id="4" name="TextBox 3"/>
          <p:cNvSpPr txBox="1"/>
          <p:nvPr/>
        </p:nvSpPr>
        <p:spPr>
          <a:xfrm>
            <a:off x="731520" y="658368"/>
            <a:ext cx="10698480" cy="731520"/>
          </a:xfrm>
          <a:prstGeom prst="rect">
            <a:avLst/>
          </a:prstGeom>
          <a:noFill/>
        </p:spPr>
        <p:txBody>
          <a:bodyPr wrap="square">
            <a:spAutoFit/>
          </a:bodyPr>
          <a:lstStyle/>
          <a:p>
            <a:pPr>
              <a:defRPr sz="2200" b="1">
                <a:solidFill>
                  <a:srgbClr val="0F172A"/>
                </a:solidFill>
              </a:defRPr>
            </a:pPr>
            <a:r>
              <a:t>Network Segmentation &amp; Zero-Public-IP Security Architecture</a:t>
            </a:r>
          </a:p>
        </p:txBody>
      </p:sp>
      <p:sp>
        <p:nvSpPr>
          <p:cNvPr id="5" name="Rounded Rectangle 4"/>
          <p:cNvSpPr/>
          <p:nvPr/>
        </p:nvSpPr>
        <p:spPr>
          <a:xfrm>
            <a:off x="731520" y="1691640"/>
            <a:ext cx="516636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56232"/>
            <a:ext cx="4709160" cy="1691640"/>
          </a:xfrm>
          <a:prstGeom prst="rect">
            <a:avLst/>
          </a:prstGeom>
          <a:noFill/>
        </p:spPr>
        <p:txBody>
          <a:bodyPr wrap="square">
            <a:spAutoFit/>
          </a:bodyPr>
          <a:lstStyle/>
          <a:p>
            <a:pPr>
              <a:spcAft>
                <a:spcPts val="200"/>
              </a:spcAft>
              <a:defRPr sz="1450" b="1">
                <a:solidFill>
                  <a:srgbClr val="0F172A"/>
                </a:solidFill>
              </a:defRPr>
            </a:pPr>
            <a:r>
              <a:t>Custom VPC &amp; Private Subnet</a:t>
            </a:r>
          </a:p>
          <a:p>
            <a:pPr>
              <a:spcAft>
                <a:spcPts val="600"/>
              </a:spcAft>
              <a:defRPr sz="1050" b="1">
                <a:solidFill>
                  <a:srgbClr val="0284C7"/>
                </a:solidFill>
              </a:defRPr>
            </a:pPr>
            <a:r>
              <a:t>smg-armor-vpc (10.30.0.0/24)</a:t>
            </a:r>
          </a:p>
          <a:p>
            <a:pPr>
              <a:defRPr sz="1150">
                <a:solidFill>
                  <a:srgbClr val="64748B"/>
                </a:solidFill>
              </a:defRPr>
            </a:pPr>
            <a:r>
              <a:t>Dedicated regional VPC in Jakarta (asia-southeast2). Disables default network configuration, isolating production backend instances completely from the public internet.</a:t>
            </a:r>
          </a:p>
        </p:txBody>
      </p:sp>
      <p:sp>
        <p:nvSpPr>
          <p:cNvPr id="7" name="Rounded Rectangle 6"/>
          <p:cNvSpPr/>
          <p:nvPr/>
        </p:nvSpPr>
        <p:spPr>
          <a:xfrm>
            <a:off x="6263640" y="1691640"/>
            <a:ext cx="516636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56232"/>
            <a:ext cx="4709160" cy="1691640"/>
          </a:xfrm>
          <a:prstGeom prst="rect">
            <a:avLst/>
          </a:prstGeom>
          <a:noFill/>
        </p:spPr>
        <p:txBody>
          <a:bodyPr wrap="square">
            <a:spAutoFit/>
          </a:bodyPr>
          <a:lstStyle/>
          <a:p>
            <a:pPr>
              <a:spcAft>
                <a:spcPts val="200"/>
              </a:spcAft>
              <a:defRPr sz="1450" b="1">
                <a:solidFill>
                  <a:srgbClr val="0F172A"/>
                </a:solidFill>
              </a:defRPr>
            </a:pPr>
            <a:r>
              <a:t>Regional Managed Proxy Subnet</a:t>
            </a:r>
          </a:p>
          <a:p>
            <a:pPr>
              <a:spcAft>
                <a:spcPts val="600"/>
              </a:spcAft>
              <a:defRPr sz="1050" b="1">
                <a:solidFill>
                  <a:srgbClr val="0284C7"/>
                </a:solidFill>
              </a:defRPr>
            </a:pPr>
            <a:r>
              <a:t>smg-armor-proxy-subnet (10.30.1.0/24)</a:t>
            </a:r>
          </a:p>
          <a:p>
            <a:pPr>
              <a:defRPr sz="1150">
                <a:solidFill>
                  <a:srgbClr val="64748B"/>
                </a:solidFill>
              </a:defRPr>
            </a:pPr>
            <a:r>
              <a:t>Proxy-only subnet dedicated for Google Envoy proxy layer. Terminates external client TCP connections and initiates clean internal requests to the backend MIG.</a:t>
            </a:r>
          </a:p>
        </p:txBody>
      </p:sp>
      <p:sp>
        <p:nvSpPr>
          <p:cNvPr id="9" name="Rounded Rectangle 8"/>
          <p:cNvSpPr/>
          <p:nvPr/>
        </p:nvSpPr>
        <p:spPr>
          <a:xfrm>
            <a:off x="731520" y="3977639"/>
            <a:ext cx="516636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142231"/>
            <a:ext cx="4709160" cy="1691640"/>
          </a:xfrm>
          <a:prstGeom prst="rect">
            <a:avLst/>
          </a:prstGeom>
          <a:noFill/>
        </p:spPr>
        <p:txBody>
          <a:bodyPr wrap="square">
            <a:spAutoFit/>
          </a:bodyPr>
          <a:lstStyle/>
          <a:p>
            <a:pPr>
              <a:spcAft>
                <a:spcPts val="200"/>
              </a:spcAft>
              <a:defRPr sz="1450" b="1">
                <a:solidFill>
                  <a:srgbClr val="0F172A"/>
                </a:solidFill>
              </a:defRPr>
            </a:pPr>
            <a:r>
              <a:t>Outbound Cloud NAT &amp; Cloud Router</a:t>
            </a:r>
          </a:p>
          <a:p>
            <a:pPr>
              <a:spcAft>
                <a:spcPts val="600"/>
              </a:spcAft>
              <a:defRPr sz="1050" b="1">
                <a:solidFill>
                  <a:srgbClr val="0284C7"/>
                </a:solidFill>
              </a:defRPr>
            </a:pPr>
            <a:r>
              <a:t>smg-armor-router &amp; smg-armor-nat</a:t>
            </a:r>
          </a:p>
          <a:p>
            <a:pPr>
              <a:defRPr sz="1150">
                <a:solidFill>
                  <a:srgbClr val="64748B"/>
                </a:solidFill>
              </a:defRPr>
            </a:pPr>
            <a:r>
              <a:t>Provides backend instances with secure outbound-only internet connectivity for OS package downloads and security updates, without needing public IP addresses.</a:t>
            </a:r>
          </a:p>
        </p:txBody>
      </p:sp>
      <p:sp>
        <p:nvSpPr>
          <p:cNvPr id="11" name="Rounded Rectangle 10"/>
          <p:cNvSpPr/>
          <p:nvPr/>
        </p:nvSpPr>
        <p:spPr>
          <a:xfrm>
            <a:off x="6263640" y="3977639"/>
            <a:ext cx="516636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142231"/>
            <a:ext cx="4709160" cy="1691640"/>
          </a:xfrm>
          <a:prstGeom prst="rect">
            <a:avLst/>
          </a:prstGeom>
          <a:noFill/>
        </p:spPr>
        <p:txBody>
          <a:bodyPr wrap="square">
            <a:spAutoFit/>
          </a:bodyPr>
          <a:lstStyle/>
          <a:p>
            <a:pPr>
              <a:spcAft>
                <a:spcPts val="200"/>
              </a:spcAft>
              <a:defRPr sz="1450" b="1">
                <a:solidFill>
                  <a:srgbClr val="0F172A"/>
                </a:solidFill>
              </a:defRPr>
            </a:pPr>
            <a:r>
              <a:t>Strict Firewall &amp; Zero-Trust IAP</a:t>
            </a:r>
          </a:p>
          <a:p>
            <a:pPr>
              <a:spcAft>
                <a:spcPts val="600"/>
              </a:spcAft>
              <a:defRPr sz="1050" b="1">
                <a:solidFill>
                  <a:srgbClr val="0284C7"/>
                </a:solidFill>
              </a:defRPr>
            </a:pPr>
            <a:r>
              <a:t>Google IAM + 35.235.240.0/20</a:t>
            </a:r>
          </a:p>
          <a:p>
            <a:pPr>
              <a:defRPr sz="1150">
                <a:solidFill>
                  <a:srgbClr val="64748B"/>
                </a:solidFill>
              </a:defRPr>
            </a:pPr>
            <a:r>
              <a:t>Firewall rules restrict ingress strictly to Envoy proxies and Google health checkers. Administrative SSH access is handled securely via Identity-Aware Proxy (IAP) without open ports.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0284C7"/>
                </a:solidFill>
              </a:defRPr>
            </a:pPr>
            <a:r>
              <a:t>ADVANCED DDOS PROTECTION</a:t>
            </a:r>
          </a:p>
        </p:txBody>
      </p:sp>
      <p:sp>
        <p:nvSpPr>
          <p:cNvPr id="4" name="TextBox 3"/>
          <p:cNvSpPr txBox="1"/>
          <p:nvPr/>
        </p:nvSpPr>
        <p:spPr>
          <a:xfrm>
            <a:off x="731520" y="658368"/>
            <a:ext cx="10698480" cy="731520"/>
          </a:xfrm>
          <a:prstGeom prst="rect">
            <a:avLst/>
          </a:prstGeom>
          <a:noFill/>
        </p:spPr>
        <p:txBody>
          <a:bodyPr wrap="square">
            <a:spAutoFit/>
          </a:bodyPr>
          <a:lstStyle/>
          <a:p>
            <a:pPr>
              <a:defRPr sz="2200" b="1">
                <a:solidFill>
                  <a:srgbClr val="0F172A"/>
                </a:solidFill>
              </a:defRPr>
            </a:pPr>
            <a:r>
              <a:t>Layer 7 DDoS Mitigation &amp; Volumetric Flood Shielding</a:t>
            </a:r>
          </a:p>
        </p:txBody>
      </p:sp>
      <p:sp>
        <p:nvSpPr>
          <p:cNvPr id="5" name="Rounded Rectangle 4"/>
          <p:cNvSpPr/>
          <p:nvPr/>
        </p:nvSpPr>
        <p:spPr>
          <a:xfrm>
            <a:off x="731520" y="1645920"/>
            <a:ext cx="3328416"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71216" cy="4114800"/>
          </a:xfrm>
          <a:prstGeom prst="rect">
            <a:avLst/>
          </a:prstGeom>
          <a:noFill/>
        </p:spPr>
        <p:txBody>
          <a:bodyPr wrap="square">
            <a:spAutoFit/>
          </a:bodyPr>
          <a:lstStyle/>
          <a:p>
            <a:pPr>
              <a:spcAft>
                <a:spcPts val="1000"/>
              </a:spcAft>
              <a:defRPr sz="1050" b="1">
                <a:solidFill>
                  <a:srgbClr val="0284C7"/>
                </a:solidFill>
              </a:defRPr>
            </a:pPr>
            <a:r>
              <a:t>RATE-BASED IP BANNING</a:t>
            </a:r>
          </a:p>
          <a:p>
            <a:pPr>
              <a:spcAft>
                <a:spcPts val="1200"/>
              </a:spcAft>
              <a:defRPr sz="1600" b="1">
                <a:solidFill>
                  <a:srgbClr val="0F172A"/>
                </a:solidFill>
              </a:defRPr>
            </a:pPr>
            <a:r>
              <a:t>Automated 300s Quarantine</a:t>
            </a:r>
          </a:p>
          <a:p>
            <a:pPr>
              <a:defRPr sz="1200">
                <a:solidFill>
                  <a:srgbClr val="64748B"/>
                </a:solidFill>
              </a:defRPr>
            </a:pPr>
            <a:r>
              <a:t>Priority 2000 enforces a strict rate limit of 50 requests per minute per client IP. Any IP exceeding this burst threshold is immediately dropped with HTTP 429 and placed in a 300-second automated edge ban.</a:t>
            </a:r>
          </a:p>
        </p:txBody>
      </p:sp>
      <p:sp>
        <p:nvSpPr>
          <p:cNvPr id="7" name="Rounded Rectangle 6"/>
          <p:cNvSpPr/>
          <p:nvPr/>
        </p:nvSpPr>
        <p:spPr>
          <a:xfrm>
            <a:off x="4425696" y="1645920"/>
            <a:ext cx="3328416"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4296" y="1828800"/>
            <a:ext cx="2871216" cy="4114800"/>
          </a:xfrm>
          <a:prstGeom prst="rect">
            <a:avLst/>
          </a:prstGeom>
          <a:noFill/>
        </p:spPr>
        <p:txBody>
          <a:bodyPr wrap="square">
            <a:spAutoFit/>
          </a:bodyPr>
          <a:lstStyle/>
          <a:p>
            <a:pPr>
              <a:spcAft>
                <a:spcPts val="1000"/>
              </a:spcAft>
              <a:defRPr sz="1050" b="1">
                <a:solidFill>
                  <a:srgbClr val="0284C7"/>
                </a:solidFill>
              </a:defRPr>
            </a:pPr>
            <a:r>
              <a:t>GOOGLE CLOUD SCALE</a:t>
            </a:r>
          </a:p>
          <a:p>
            <a:pPr>
              <a:spcAft>
                <a:spcPts val="1200"/>
              </a:spcAft>
              <a:defRPr sz="1600" b="1">
                <a:solidFill>
                  <a:srgbClr val="0F172A"/>
                </a:solidFill>
              </a:defRPr>
            </a:pPr>
            <a:r>
              <a:t>Multi-Terabit Edge Capacity</a:t>
            </a:r>
          </a:p>
          <a:p>
            <a:pPr>
              <a:defRPr sz="1200">
                <a:solidFill>
                  <a:srgbClr val="64748B"/>
                </a:solidFill>
              </a:defRPr>
            </a:pPr>
            <a:r>
              <a:t>Google Front End absorbs massive multi-gigabit volumetric floods at 100+ global points of presence. Attack traffic is inspected and rejected at the border before consuming VPC bandwidth or server sockets.</a:t>
            </a:r>
          </a:p>
        </p:txBody>
      </p:sp>
      <p:sp>
        <p:nvSpPr>
          <p:cNvPr id="9" name="Rounded Rectangle 8"/>
          <p:cNvSpPr/>
          <p:nvPr/>
        </p:nvSpPr>
        <p:spPr>
          <a:xfrm>
            <a:off x="8119872" y="1645920"/>
            <a:ext cx="3328416"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1828800"/>
            <a:ext cx="2871216" cy="4114800"/>
          </a:xfrm>
          <a:prstGeom prst="rect">
            <a:avLst/>
          </a:prstGeom>
          <a:noFill/>
        </p:spPr>
        <p:txBody>
          <a:bodyPr wrap="square">
            <a:spAutoFit/>
          </a:bodyPr>
          <a:lstStyle/>
          <a:p>
            <a:pPr>
              <a:spcAft>
                <a:spcPts val="1000"/>
              </a:spcAft>
              <a:defRPr sz="1050" b="1">
                <a:solidFill>
                  <a:srgbClr val="0284C7"/>
                </a:solidFill>
              </a:defRPr>
            </a:pPr>
            <a:r>
              <a:t>ADAPTIVE PROTECTION</a:t>
            </a:r>
          </a:p>
          <a:p>
            <a:pPr>
              <a:spcAft>
                <a:spcPts val="1200"/>
              </a:spcAft>
              <a:defRPr sz="1600" b="1">
                <a:solidFill>
                  <a:srgbClr val="0F172A"/>
                </a:solidFill>
              </a:defRPr>
            </a:pPr>
            <a:r>
              <a:t>Machine Learning Baselines</a:t>
            </a:r>
          </a:p>
          <a:p>
            <a:pPr>
              <a:defRPr sz="1200">
                <a:solidFill>
                  <a:srgbClr val="64748B"/>
                </a:solidFill>
              </a:defRPr>
            </a:pPr>
            <a:r>
              <a:t>Cloud Armor utilizes machine learning to build continuous behavioral baselines of normal application traffic. It detects volumetric anomalies, isolates bot signatures, and recommends customized mitigation rules.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0284C7"/>
                </a:solidFill>
              </a:defRPr>
            </a:pPr>
            <a:r>
              <a:t>LIVE ATTACK DRILL</a:t>
            </a:r>
          </a:p>
        </p:txBody>
      </p:sp>
      <p:sp>
        <p:nvSpPr>
          <p:cNvPr id="4" name="TextBox 3"/>
          <p:cNvSpPr txBox="1"/>
          <p:nvPr/>
        </p:nvSpPr>
        <p:spPr>
          <a:xfrm>
            <a:off x="731520" y="658368"/>
            <a:ext cx="10698480" cy="731520"/>
          </a:xfrm>
          <a:prstGeom prst="rect">
            <a:avLst/>
          </a:prstGeom>
          <a:noFill/>
        </p:spPr>
        <p:txBody>
          <a:bodyPr wrap="square">
            <a:spAutoFit/>
          </a:bodyPr>
          <a:lstStyle/>
          <a:p>
            <a:pPr>
              <a:defRPr sz="2200" b="1">
                <a:solidFill>
                  <a:srgbClr val="0F172A"/>
                </a:solidFill>
              </a:defRPr>
            </a:pPr>
            <a:r>
              <a:t>Automated 6-Stage Attack Simulation &amp; Verification</a:t>
            </a:r>
          </a:p>
        </p:txBody>
      </p:sp>
      <p:pic>
        <p:nvPicPr>
          <p:cNvPr id="5" name="Picture 4" descr="attack_drill_flow_light.png"/>
          <p:cNvPicPr>
            <a:picLocks noChangeAspect="1"/>
          </p:cNvPicPr>
          <p:nvPr/>
        </p:nvPicPr>
        <p:blipFill>
          <a:blip r:embed="rId2"/>
          <a:stretch>
            <a:fillRect/>
          </a:stretch>
        </p:blipFill>
        <p:spPr>
          <a:xfrm>
            <a:off x="731520" y="1600200"/>
            <a:ext cx="7772400" cy="4041648"/>
          </a:xfrm>
          <a:prstGeom prst="rect">
            <a:avLst/>
          </a:prstGeom>
        </p:spPr>
      </p:pic>
      <p:sp>
        <p:nvSpPr>
          <p:cNvPr id="6" name="Rounded Rectangle 5"/>
          <p:cNvSpPr/>
          <p:nvPr/>
        </p:nvSpPr>
        <p:spPr>
          <a:xfrm>
            <a:off x="8732520" y="1600200"/>
            <a:ext cx="2724912" cy="47091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15400" y="1737360"/>
            <a:ext cx="2359152" cy="4389120"/>
          </a:xfrm>
          <a:prstGeom prst="rect">
            <a:avLst/>
          </a:prstGeom>
          <a:noFill/>
        </p:spPr>
        <p:txBody>
          <a:bodyPr wrap="square">
            <a:spAutoFit/>
          </a:bodyPr>
          <a:lstStyle/>
          <a:p>
            <a:pPr>
              <a:spcAft>
                <a:spcPts val="800"/>
              </a:spcAft>
              <a:defRPr sz="1150" b="1">
                <a:solidFill>
                  <a:srgbClr val="0284C7"/>
                </a:solidFill>
              </a:defRPr>
            </a:pPr>
            <a:r>
              <a:t>DRILL OUTCOME</a:t>
            </a:r>
          </a:p>
          <a:p>
            <a:pPr>
              <a:spcAft>
                <a:spcPts val="600"/>
              </a:spcAft>
              <a:defRPr sz="1050" b="1">
                <a:solidFill>
                  <a:srgbClr val="0F172A"/>
                </a:solidFill>
              </a:defRPr>
            </a:pPr>
            <a:r>
              <a:t>• 100% Edge Mitigation:</a:t>
            </a:r>
            <a:br/>
            <a:r>
              <a:rPr b="0" sz="950">
                <a:solidFill>
                  <a:srgbClr val="64748B"/>
                </a:solidFill>
              </a:rPr>
              <a:t>Every malicious OWASP payload (SQLi, XSS, LFI, RCE) blocked at Google Edge (HTTP 403).</a:t>
            </a:r>
          </a:p>
          <a:p>
            <a:pPr>
              <a:spcAft>
                <a:spcPts val="600"/>
              </a:spcAft>
              <a:defRPr sz="1050" b="1">
                <a:solidFill>
                  <a:srgbClr val="0F172A"/>
                </a:solidFill>
              </a:defRPr>
            </a:pPr>
            <a:r>
              <a:t>• Sub-Second Reaction:</a:t>
            </a:r>
            <a:br/>
            <a:r>
              <a:rPr b="0" sz="950">
                <a:solidFill>
                  <a:srgbClr val="64748B"/>
                </a:solidFill>
              </a:rPr>
              <a:t>Cloud Armor evaluates rules with near-zero latency penalty (~330ms edge rejection).</a:t>
            </a:r>
          </a:p>
          <a:p>
            <a:pPr>
              <a:spcAft>
                <a:spcPts val="600"/>
              </a:spcAft>
              <a:defRPr sz="1050" b="1">
                <a:solidFill>
                  <a:srgbClr val="0F172A"/>
                </a:solidFill>
              </a:defRPr>
            </a:pPr>
            <a:r>
              <a:t>• Volumetric Suppression:</a:t>
            </a:r>
            <a:br/>
            <a:r>
              <a:rPr b="0" sz="950">
                <a:solidFill>
                  <a:srgbClr val="64748B"/>
                </a:solidFill>
              </a:rPr>
              <a:t>Burst flood triggered Rate Ban (HTTP 429), enforcing 300s quarantine successfully.</a:t>
            </a:r>
          </a:p>
          <a:p>
            <a:pPr>
              <a:spcAft>
                <a:spcPts val="600"/>
              </a:spcAft>
              <a:defRPr sz="1050" b="1">
                <a:solidFill>
                  <a:srgbClr val="0F172A"/>
                </a:solidFill>
              </a:defRPr>
            </a:pPr>
            <a:r>
              <a:t>• Clean Backend Health:</a:t>
            </a:r>
            <a:br/>
            <a:r>
              <a:rPr b="0" sz="950">
                <a:solidFill>
                  <a:srgbClr val="64748B"/>
                </a:solidFill>
              </a:rPr>
              <a:t>Zero malicious requests entered private backend application logs during testing.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0284C7"/>
                </a:solidFill>
              </a:defRPr>
            </a:pPr>
            <a:r>
              <a:t>CLIENT SHOWCASE &amp; TELEMETRY</a:t>
            </a:r>
          </a:p>
        </p:txBody>
      </p:sp>
      <p:sp>
        <p:nvSpPr>
          <p:cNvPr id="4" name="TextBox 3"/>
          <p:cNvSpPr txBox="1"/>
          <p:nvPr/>
        </p:nvSpPr>
        <p:spPr>
          <a:xfrm>
            <a:off x="731520" y="658368"/>
            <a:ext cx="10698480" cy="731520"/>
          </a:xfrm>
          <a:prstGeom prst="rect">
            <a:avLst/>
          </a:prstGeom>
          <a:noFill/>
        </p:spPr>
        <p:txBody>
          <a:bodyPr wrap="square">
            <a:spAutoFit/>
          </a:bodyPr>
          <a:lstStyle/>
          <a:p>
            <a:pPr>
              <a:defRPr sz="2200" b="1">
                <a:solidFill>
                  <a:srgbClr val="0F172A"/>
                </a:solidFill>
              </a:defRPr>
            </a:pPr>
            <a:r>
              <a:t>Interactive Security Playground &amp; Live Telemetry Console</a:t>
            </a:r>
          </a:p>
        </p:txBody>
      </p:sp>
      <p:pic>
        <p:nvPicPr>
          <p:cNvPr id="5" name="Picture 4" descr="playground_telemetry_flow_light.png"/>
          <p:cNvPicPr>
            <a:picLocks noChangeAspect="1"/>
          </p:cNvPicPr>
          <p:nvPr/>
        </p:nvPicPr>
        <p:blipFill>
          <a:blip r:embed="rId2"/>
          <a:stretch>
            <a:fillRect/>
          </a:stretch>
        </p:blipFill>
        <p:spPr>
          <a:xfrm>
            <a:off x="731520" y="1600200"/>
            <a:ext cx="7772400" cy="3730752"/>
          </a:xfrm>
          <a:prstGeom prst="rect">
            <a:avLst/>
          </a:prstGeom>
        </p:spPr>
      </p:pic>
      <p:sp>
        <p:nvSpPr>
          <p:cNvPr id="6" name="Rounded Rectangle 5"/>
          <p:cNvSpPr/>
          <p:nvPr/>
        </p:nvSpPr>
        <p:spPr>
          <a:xfrm>
            <a:off x="8732520" y="1600200"/>
            <a:ext cx="2724912" cy="47091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15400" y="1737360"/>
            <a:ext cx="2359152" cy="4389120"/>
          </a:xfrm>
          <a:prstGeom prst="rect">
            <a:avLst/>
          </a:prstGeom>
          <a:noFill/>
        </p:spPr>
        <p:txBody>
          <a:bodyPr wrap="square">
            <a:spAutoFit/>
          </a:bodyPr>
          <a:lstStyle/>
          <a:p>
            <a:pPr>
              <a:spcAft>
                <a:spcPts val="800"/>
              </a:spcAft>
              <a:defRPr sz="1150" b="1">
                <a:solidFill>
                  <a:srgbClr val="0284C7"/>
                </a:solidFill>
              </a:defRPr>
            </a:pPr>
            <a:r>
              <a:t>DEMO CAPABILITIES</a:t>
            </a:r>
          </a:p>
          <a:p>
            <a:pPr>
              <a:spcAft>
                <a:spcPts val="600"/>
              </a:spcAft>
              <a:defRPr sz="1050" b="1">
                <a:solidFill>
                  <a:srgbClr val="0F172A"/>
                </a:solidFill>
              </a:defRPr>
            </a:pPr>
            <a:r>
              <a:t>• 1-Click Browser Tests:</a:t>
            </a:r>
            <a:br/>
            <a:r>
              <a:rPr b="0" sz="950">
                <a:solidFill>
                  <a:srgbClr val="64748B"/>
                </a:solidFill>
              </a:rPr>
              <a:t>Stakeholders test live exploits directly via UI buttons on armor.cloudwithmagna.com.</a:t>
            </a:r>
          </a:p>
          <a:p>
            <a:pPr>
              <a:spcAft>
                <a:spcPts val="600"/>
              </a:spcAft>
              <a:defRPr sz="1050" b="1">
                <a:solidFill>
                  <a:srgbClr val="0F172A"/>
                </a:solidFill>
              </a:defRPr>
            </a:pPr>
            <a:r>
              <a:t>• Master 'Run All' Drill:</a:t>
            </a:r>
            <a:br/>
            <a:r>
              <a:rPr b="0" sz="950">
                <a:solidFill>
                  <a:srgbClr val="64748B"/>
                </a:solidFill>
              </a:rPr>
              <a:t>Executes full regression attack test suite automatically with visual status badges.</a:t>
            </a:r>
          </a:p>
          <a:p>
            <a:pPr>
              <a:spcAft>
                <a:spcPts val="600"/>
              </a:spcAft>
              <a:defRPr sz="1050" b="1">
                <a:solidFill>
                  <a:srgbClr val="0F172A"/>
                </a:solidFill>
              </a:defRPr>
            </a:pPr>
            <a:r>
              <a:t>• Live Security Terminal:</a:t>
            </a:r>
            <a:br/>
            <a:r>
              <a:rPr b="0" sz="950">
                <a:solidFill>
                  <a:srgbClr val="64748B"/>
                </a:solidFill>
              </a:rPr>
              <a:t>Integrated browser console displaying real-time timestamps, latencies, and rule IDs.</a:t>
            </a:r>
          </a:p>
          <a:p>
            <a:pPr>
              <a:spcAft>
                <a:spcPts val="600"/>
              </a:spcAft>
              <a:defRPr sz="1050" b="1">
                <a:solidFill>
                  <a:srgbClr val="0F172A"/>
                </a:solidFill>
              </a:defRPr>
            </a:pPr>
            <a:r>
              <a:t>• Audit Telemetry:</a:t>
            </a:r>
            <a:br/>
            <a:r>
              <a:rPr b="0" sz="950">
                <a:solidFill>
                  <a:srgbClr val="64748B"/>
                </a:solidFill>
              </a:rPr>
              <a:t>100% request sampling logged in Cloud Logging with client IP and enforcement actions.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0284C7"/>
                </a:solidFill>
              </a:defRPr>
            </a:pPr>
            <a:r>
              <a:t>AUTOMATION &amp; DEVOPS</a:t>
            </a:r>
          </a:p>
        </p:txBody>
      </p:sp>
      <p:sp>
        <p:nvSpPr>
          <p:cNvPr id="4" name="TextBox 3"/>
          <p:cNvSpPr txBox="1"/>
          <p:nvPr/>
        </p:nvSpPr>
        <p:spPr>
          <a:xfrm>
            <a:off x="731520" y="658368"/>
            <a:ext cx="10698480" cy="731520"/>
          </a:xfrm>
          <a:prstGeom prst="rect">
            <a:avLst/>
          </a:prstGeom>
          <a:noFill/>
        </p:spPr>
        <p:txBody>
          <a:bodyPr wrap="square">
            <a:spAutoFit/>
          </a:bodyPr>
          <a:lstStyle/>
          <a:p>
            <a:pPr>
              <a:defRPr sz="2200" b="1">
                <a:solidFill>
                  <a:srgbClr val="0F172A"/>
                </a:solidFill>
              </a:defRPr>
            </a:pPr>
            <a:r>
              <a:t>Enterprise Delivery via Infrastructure as Code (IaC)</a:t>
            </a:r>
          </a:p>
        </p:txBody>
      </p:sp>
      <p:sp>
        <p:nvSpPr>
          <p:cNvPr id="5" name="Rounded Rectangle 4"/>
          <p:cNvSpPr/>
          <p:nvPr/>
        </p:nvSpPr>
        <p:spPr>
          <a:xfrm>
            <a:off x="731520" y="1645920"/>
            <a:ext cx="10725912" cy="1051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149840" cy="822960"/>
          </a:xfrm>
          <a:prstGeom prst="rect">
            <a:avLst/>
          </a:prstGeom>
          <a:noFill/>
        </p:spPr>
        <p:txBody>
          <a:bodyPr wrap="square">
            <a:spAutoFit/>
          </a:bodyPr>
          <a:lstStyle/>
          <a:p>
            <a:pPr>
              <a:spcAft>
                <a:spcPts val="300"/>
              </a:spcAft>
              <a:defRPr sz="1450" b="1">
                <a:solidFill>
                  <a:srgbClr val="0284C7"/>
                </a:solidFill>
              </a:defRPr>
            </a:pPr>
            <a:r>
              <a:t>Modular Architecture (Reusable SMG IP)</a:t>
            </a:r>
          </a:p>
          <a:p>
            <a:pPr>
              <a:defRPr sz="1150">
                <a:solidFill>
                  <a:srgbClr val="64748B"/>
                </a:solidFill>
              </a:defRPr>
            </a:pPr>
            <a:r>
              <a:t>Built with modular Terraform blocks (VPC, Managed Proxy Subnet, MIG, Global ALB, Cloud Armor, SSL). Functions as a turnkey enterprise security landing zone ready for client deployment.</a:t>
            </a:r>
          </a:p>
        </p:txBody>
      </p:sp>
      <p:sp>
        <p:nvSpPr>
          <p:cNvPr id="7" name="Rounded Rectangle 6"/>
          <p:cNvSpPr/>
          <p:nvPr/>
        </p:nvSpPr>
        <p:spPr>
          <a:xfrm>
            <a:off x="731520" y="2788920"/>
            <a:ext cx="10725912" cy="1051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898648"/>
            <a:ext cx="10149840" cy="822960"/>
          </a:xfrm>
          <a:prstGeom prst="rect">
            <a:avLst/>
          </a:prstGeom>
          <a:noFill/>
        </p:spPr>
        <p:txBody>
          <a:bodyPr wrap="square">
            <a:spAutoFit/>
          </a:bodyPr>
          <a:lstStyle/>
          <a:p>
            <a:pPr>
              <a:spcAft>
                <a:spcPts val="300"/>
              </a:spcAft>
              <a:defRPr sz="1450" b="1">
                <a:solidFill>
                  <a:srgbClr val="0284C7"/>
                </a:solidFill>
              </a:defRPr>
            </a:pPr>
            <a:r>
              <a:t>Remote State Governance &amp; Distributed Locking</a:t>
            </a:r>
          </a:p>
          <a:p>
            <a:pPr>
              <a:defRPr sz="1150">
                <a:solidFill>
                  <a:srgbClr val="64748B"/>
                </a:solidFill>
              </a:defRPr>
            </a:pPr>
            <a:r>
              <a:t>Terraform state stored securely in Google Cloud Storage with object versioning and state locking to prevent accidental concurrent modifications across engineering teams.</a:t>
            </a:r>
          </a:p>
        </p:txBody>
      </p:sp>
      <p:sp>
        <p:nvSpPr>
          <p:cNvPr id="9" name="Rounded Rectangle 8"/>
          <p:cNvSpPr/>
          <p:nvPr/>
        </p:nvSpPr>
        <p:spPr>
          <a:xfrm>
            <a:off x="731520" y="3931920"/>
            <a:ext cx="10725912" cy="1051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41648"/>
            <a:ext cx="10149840" cy="822960"/>
          </a:xfrm>
          <a:prstGeom prst="rect">
            <a:avLst/>
          </a:prstGeom>
          <a:noFill/>
        </p:spPr>
        <p:txBody>
          <a:bodyPr wrap="square">
            <a:spAutoFit/>
          </a:bodyPr>
          <a:lstStyle/>
          <a:p>
            <a:pPr>
              <a:spcAft>
                <a:spcPts val="300"/>
              </a:spcAft>
              <a:defRPr sz="1450" b="1">
                <a:solidFill>
                  <a:srgbClr val="0284C7"/>
                </a:solidFill>
              </a:defRPr>
            </a:pPr>
            <a:r>
              <a:t>Sub-10 Minute Automated Provisioning</a:t>
            </a:r>
          </a:p>
          <a:p>
            <a:pPr>
              <a:defRPr sz="1150">
                <a:solidFill>
                  <a:srgbClr val="64748B"/>
                </a:solidFill>
              </a:defRPr>
            </a:pPr>
            <a:r>
              <a:t>Deploys 17+ enterprise resources—spanning Anycast ALBs, WAF policies, SSL certificates, Cloud NAT, and autoscaling compute—fully automated in under 10 minutes.</a:t>
            </a:r>
          </a:p>
        </p:txBody>
      </p:sp>
      <p:sp>
        <p:nvSpPr>
          <p:cNvPr id="11" name="Rounded Rectangle 10"/>
          <p:cNvSpPr/>
          <p:nvPr/>
        </p:nvSpPr>
        <p:spPr>
          <a:xfrm>
            <a:off x="731520" y="5074920"/>
            <a:ext cx="10725912" cy="1051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184648"/>
            <a:ext cx="10149840" cy="822960"/>
          </a:xfrm>
          <a:prstGeom prst="rect">
            <a:avLst/>
          </a:prstGeom>
          <a:noFill/>
        </p:spPr>
        <p:txBody>
          <a:bodyPr wrap="square">
            <a:spAutoFit/>
          </a:bodyPr>
          <a:lstStyle/>
          <a:p>
            <a:pPr>
              <a:spcAft>
                <a:spcPts val="300"/>
              </a:spcAft>
              <a:defRPr sz="1450" b="1">
                <a:solidFill>
                  <a:srgbClr val="0284C7"/>
                </a:solidFill>
              </a:defRPr>
            </a:pPr>
            <a:r>
              <a:t>Automated Testing &amp; Drift Detection</a:t>
            </a:r>
          </a:p>
          <a:p>
            <a:pPr>
              <a:defRPr sz="1150">
                <a:solidFill>
                  <a:srgbClr val="64748B"/>
                </a:solidFill>
              </a:defRPr>
            </a:pPr>
            <a:r>
              <a:t>Includes integrated Python attack drill scripts (attack_drill.py) and Cloud Logging telemetry verifiers (verify_logs.py) to validate security posture out-of-the-box.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0284C7"/>
                </a:solidFill>
              </a:defRPr>
            </a:pPr>
            <a:r>
              <a:t>BUSINESS VALUE &amp; TCO</a:t>
            </a:r>
          </a:p>
        </p:txBody>
      </p:sp>
      <p:sp>
        <p:nvSpPr>
          <p:cNvPr id="4" name="TextBox 3"/>
          <p:cNvSpPr txBox="1"/>
          <p:nvPr/>
        </p:nvSpPr>
        <p:spPr>
          <a:xfrm>
            <a:off x="731520" y="658368"/>
            <a:ext cx="10698480" cy="731520"/>
          </a:xfrm>
          <a:prstGeom prst="rect">
            <a:avLst/>
          </a:prstGeom>
          <a:noFill/>
        </p:spPr>
        <p:txBody>
          <a:bodyPr wrap="square">
            <a:spAutoFit/>
          </a:bodyPr>
          <a:lstStyle/>
          <a:p>
            <a:pPr>
              <a:defRPr sz="2200" b="1">
                <a:solidFill>
                  <a:srgbClr val="0F172A"/>
                </a:solidFill>
              </a:defRPr>
            </a:pPr>
            <a:r>
              <a:t>Tangible Business Impact &amp; ROI for Clients</a:t>
            </a:r>
          </a:p>
        </p:txBody>
      </p:sp>
      <p:sp>
        <p:nvSpPr>
          <p:cNvPr id="5" name="Rounded Rectangle 4"/>
          <p:cNvSpPr/>
          <p:nvPr/>
        </p:nvSpPr>
        <p:spPr>
          <a:xfrm>
            <a:off x="731520" y="1691640"/>
            <a:ext cx="516636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56232"/>
            <a:ext cx="4709160" cy="1691640"/>
          </a:xfrm>
          <a:prstGeom prst="rect">
            <a:avLst/>
          </a:prstGeom>
          <a:noFill/>
        </p:spPr>
        <p:txBody>
          <a:bodyPr wrap="square">
            <a:spAutoFit/>
          </a:bodyPr>
          <a:lstStyle/>
          <a:p>
            <a:pPr>
              <a:spcAft>
                <a:spcPts val="400"/>
              </a:spcAft>
              <a:defRPr sz="1100" b="1">
                <a:solidFill>
                  <a:srgbClr val="0284C7"/>
                </a:solidFill>
              </a:defRPr>
            </a:pPr>
            <a:r>
              <a:t>AUDIT READY</a:t>
            </a:r>
          </a:p>
          <a:p>
            <a:pPr>
              <a:spcAft>
                <a:spcPts val="600"/>
              </a:spcAft>
              <a:defRPr sz="1500" b="1">
                <a:solidFill>
                  <a:srgbClr val="0F172A"/>
                </a:solidFill>
              </a:defRPr>
            </a:pPr>
            <a:r>
              <a:t>Turnkey Regulatory Compliance</a:t>
            </a:r>
          </a:p>
          <a:p>
            <a:pPr>
              <a:defRPr sz="1150">
                <a:solidFill>
                  <a:srgbClr val="64748B"/>
                </a:solidFill>
              </a:defRPr>
            </a:pPr>
            <a:r>
              <a:t>Satisfies PCI-DSS Requirement 6.6 and OJK/Bank Indonesia cybersecurity mandates requiring automated public-facing web application protection and Layer 7 inspection.</a:t>
            </a:r>
          </a:p>
        </p:txBody>
      </p:sp>
      <p:sp>
        <p:nvSpPr>
          <p:cNvPr id="7" name="Rounded Rectangle 6"/>
          <p:cNvSpPr/>
          <p:nvPr/>
        </p:nvSpPr>
        <p:spPr>
          <a:xfrm>
            <a:off x="6263640" y="1691640"/>
            <a:ext cx="516636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56232"/>
            <a:ext cx="4709160" cy="1691640"/>
          </a:xfrm>
          <a:prstGeom prst="rect">
            <a:avLst/>
          </a:prstGeom>
          <a:noFill/>
        </p:spPr>
        <p:txBody>
          <a:bodyPr wrap="square">
            <a:spAutoFit/>
          </a:bodyPr>
          <a:lstStyle/>
          <a:p>
            <a:pPr>
              <a:spcAft>
                <a:spcPts val="400"/>
              </a:spcAft>
              <a:defRPr sz="1100" b="1">
                <a:solidFill>
                  <a:srgbClr val="0284C7"/>
                </a:solidFill>
              </a:defRPr>
            </a:pPr>
            <a:r>
              <a:t>99.99%+ SLA</a:t>
            </a:r>
          </a:p>
          <a:p>
            <a:pPr>
              <a:spcAft>
                <a:spcPts val="600"/>
              </a:spcAft>
              <a:defRPr sz="1500" b="1">
                <a:solidFill>
                  <a:srgbClr val="0F172A"/>
                </a:solidFill>
              </a:defRPr>
            </a:pPr>
            <a:r>
              <a:t>Business Continuity &amp; Uptime</a:t>
            </a:r>
          </a:p>
          <a:p>
            <a:pPr>
              <a:defRPr sz="1150">
                <a:solidFill>
                  <a:srgbClr val="64748B"/>
                </a:solidFill>
              </a:defRPr>
            </a:pPr>
            <a:r>
              <a:t>Shields core digital banking, ecommerce, and corporate portals from malicious volumetric downtime and DDoS extortion, protecting enterprise revenue and brand reputation.</a:t>
            </a:r>
          </a:p>
        </p:txBody>
      </p:sp>
      <p:sp>
        <p:nvSpPr>
          <p:cNvPr id="9" name="Rounded Rectangle 8"/>
          <p:cNvSpPr/>
          <p:nvPr/>
        </p:nvSpPr>
        <p:spPr>
          <a:xfrm>
            <a:off x="731520" y="3977639"/>
            <a:ext cx="516636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142231"/>
            <a:ext cx="4709160" cy="1691640"/>
          </a:xfrm>
          <a:prstGeom prst="rect">
            <a:avLst/>
          </a:prstGeom>
          <a:noFill/>
        </p:spPr>
        <p:txBody>
          <a:bodyPr wrap="square">
            <a:spAutoFit/>
          </a:bodyPr>
          <a:lstStyle/>
          <a:p>
            <a:pPr>
              <a:spcAft>
                <a:spcPts val="400"/>
              </a:spcAft>
              <a:defRPr sz="1100" b="1">
                <a:solidFill>
                  <a:srgbClr val="0284C7"/>
                </a:solidFill>
              </a:defRPr>
            </a:pPr>
            <a:r>
              <a:t>-60% TCO</a:t>
            </a:r>
          </a:p>
          <a:p>
            <a:pPr>
              <a:spcAft>
                <a:spcPts val="600"/>
              </a:spcAft>
              <a:defRPr sz="1500" b="1">
                <a:solidFill>
                  <a:srgbClr val="0F172A"/>
                </a:solidFill>
              </a:defRPr>
            </a:pPr>
            <a:r>
              <a:t>Zero Appliance Overhead</a:t>
            </a:r>
          </a:p>
          <a:p>
            <a:pPr>
              <a:defRPr sz="1150">
                <a:solidFill>
                  <a:srgbClr val="64748B"/>
                </a:solidFill>
              </a:defRPr>
            </a:pPr>
            <a:r>
              <a:t>Eliminates third-party virtual firewall licensing, multi-gigabit appliance throughput fees, HA sandwich complexities, and costly ongoing security patch maintenance.</a:t>
            </a:r>
          </a:p>
        </p:txBody>
      </p:sp>
      <p:sp>
        <p:nvSpPr>
          <p:cNvPr id="11" name="Rounded Rectangle 10"/>
          <p:cNvSpPr/>
          <p:nvPr/>
        </p:nvSpPr>
        <p:spPr>
          <a:xfrm>
            <a:off x="6263640" y="3977639"/>
            <a:ext cx="516636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142231"/>
            <a:ext cx="4709160" cy="1691640"/>
          </a:xfrm>
          <a:prstGeom prst="rect">
            <a:avLst/>
          </a:prstGeom>
          <a:noFill/>
        </p:spPr>
        <p:txBody>
          <a:bodyPr wrap="square">
            <a:spAutoFit/>
          </a:bodyPr>
          <a:lstStyle/>
          <a:p>
            <a:pPr>
              <a:spcAft>
                <a:spcPts val="400"/>
              </a:spcAft>
              <a:defRPr sz="1100" b="1">
                <a:solidFill>
                  <a:srgbClr val="0284C7"/>
                </a:solidFill>
              </a:defRPr>
            </a:pPr>
            <a:r>
              <a:t>10x SPEED</a:t>
            </a:r>
          </a:p>
          <a:p>
            <a:pPr>
              <a:spcAft>
                <a:spcPts val="600"/>
              </a:spcAft>
              <a:defRPr sz="1500" b="1">
                <a:solidFill>
                  <a:srgbClr val="0F172A"/>
                </a:solidFill>
              </a:defRPr>
            </a:pPr>
            <a:r>
              <a:t>Rapid Time-to-Market</a:t>
            </a:r>
          </a:p>
          <a:p>
            <a:pPr>
              <a:defRPr sz="1150">
                <a:solidFill>
                  <a:srgbClr val="64748B"/>
                </a:solidFill>
              </a:defRPr>
            </a:pPr>
            <a:r>
              <a:t>Replaces months of manual network design and firewall configuration with a pre-validated, production-ready Cloud Armor landing zone deployed in minutes.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0284C7"/>
                </a:solidFill>
              </a:defRPr>
            </a:pPr>
            <a:r>
              <a:t>LIVE DEMONSTRATION</a:t>
            </a:r>
          </a:p>
        </p:txBody>
      </p:sp>
      <p:sp>
        <p:nvSpPr>
          <p:cNvPr id="4" name="TextBox 3"/>
          <p:cNvSpPr txBox="1"/>
          <p:nvPr/>
        </p:nvSpPr>
        <p:spPr>
          <a:xfrm>
            <a:off x="731520" y="658368"/>
            <a:ext cx="10698480" cy="731520"/>
          </a:xfrm>
          <a:prstGeom prst="rect">
            <a:avLst/>
          </a:prstGeom>
          <a:noFill/>
        </p:spPr>
        <p:txBody>
          <a:bodyPr wrap="square">
            <a:spAutoFit/>
          </a:bodyPr>
          <a:lstStyle/>
          <a:p>
            <a:pPr>
              <a:defRPr sz="2200" b="1">
                <a:solidFill>
                  <a:srgbClr val="0F172A"/>
                </a:solidFill>
              </a:defRPr>
            </a:pPr>
            <a:r>
              <a:t>What We Will Prove in the Live Demonstration</a:t>
            </a:r>
          </a:p>
        </p:txBody>
      </p:sp>
      <p:sp>
        <p:nvSpPr>
          <p:cNvPr id="5" name="Rounded Rectangle 4"/>
          <p:cNvSpPr/>
          <p:nvPr/>
        </p:nvSpPr>
        <p:spPr>
          <a:xfrm>
            <a:off x="731520" y="1645920"/>
            <a:ext cx="10725912" cy="1051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149840" cy="822960"/>
          </a:xfrm>
          <a:prstGeom prst="rect">
            <a:avLst/>
          </a:prstGeom>
          <a:noFill/>
        </p:spPr>
        <p:txBody>
          <a:bodyPr wrap="square">
            <a:spAutoFit/>
          </a:bodyPr>
          <a:lstStyle/>
          <a:p>
            <a:pPr>
              <a:spcAft>
                <a:spcPts val="200"/>
              </a:spcAft>
              <a:defRPr sz="1400" b="1">
                <a:solidFill>
                  <a:srgbClr val="0284C7"/>
                </a:solidFill>
              </a:defRPr>
            </a:pPr>
            <a:r>
              <a:t>Step 1: Live Interactive Playground Web UI</a:t>
            </a:r>
          </a:p>
          <a:p>
            <a:pPr>
              <a:defRPr sz="1150">
                <a:solidFill>
                  <a:srgbClr val="64748B"/>
                </a:solidFill>
              </a:defRPr>
            </a:pPr>
            <a:r>
              <a:t>Accessing https://armor.cloudwithmagna.com/ to inspect SSL certificate validity, Anycast IP routing, and zero-public-IP backend instances.</a:t>
            </a:r>
          </a:p>
        </p:txBody>
      </p:sp>
      <p:sp>
        <p:nvSpPr>
          <p:cNvPr id="7" name="Rounded Rectangle 6"/>
          <p:cNvSpPr/>
          <p:nvPr/>
        </p:nvSpPr>
        <p:spPr>
          <a:xfrm>
            <a:off x="731520" y="2788920"/>
            <a:ext cx="10725912" cy="1051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898648"/>
            <a:ext cx="10149840" cy="822960"/>
          </a:xfrm>
          <a:prstGeom prst="rect">
            <a:avLst/>
          </a:prstGeom>
          <a:noFill/>
        </p:spPr>
        <p:txBody>
          <a:bodyPr wrap="square">
            <a:spAutoFit/>
          </a:bodyPr>
          <a:lstStyle/>
          <a:p>
            <a:pPr>
              <a:spcAft>
                <a:spcPts val="200"/>
              </a:spcAft>
              <a:defRPr sz="1400" b="1">
                <a:solidFill>
                  <a:srgbClr val="0284C7"/>
                </a:solidFill>
              </a:defRPr>
            </a:pPr>
            <a:r>
              <a:t>Step 2: 1-Click OWASP Top 10 Attack Validation</a:t>
            </a:r>
          </a:p>
          <a:p>
            <a:pPr>
              <a:defRPr sz="1150">
                <a:solidFill>
                  <a:srgbClr val="64748B"/>
                </a:solidFill>
              </a:defRPr>
            </a:pPr>
            <a:r>
              <a:t>Triggering live SQLi, XSS, and LFI exploit buttons in browser to demonstrate immediate Google Edge HTTP 403 Forbidden interception.</a:t>
            </a:r>
          </a:p>
        </p:txBody>
      </p:sp>
      <p:sp>
        <p:nvSpPr>
          <p:cNvPr id="9" name="Rounded Rectangle 8"/>
          <p:cNvSpPr/>
          <p:nvPr/>
        </p:nvSpPr>
        <p:spPr>
          <a:xfrm>
            <a:off x="731520" y="3931920"/>
            <a:ext cx="10725912" cy="1051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41648"/>
            <a:ext cx="10149840" cy="822960"/>
          </a:xfrm>
          <a:prstGeom prst="rect">
            <a:avLst/>
          </a:prstGeom>
          <a:noFill/>
        </p:spPr>
        <p:txBody>
          <a:bodyPr wrap="square">
            <a:spAutoFit/>
          </a:bodyPr>
          <a:lstStyle/>
          <a:p>
            <a:pPr>
              <a:spcAft>
                <a:spcPts val="200"/>
              </a:spcAft>
              <a:defRPr sz="1400" b="1">
                <a:solidFill>
                  <a:srgbClr val="0284C7"/>
                </a:solidFill>
              </a:defRPr>
            </a:pPr>
            <a:r>
              <a:t>Step 3: Layer 7 DDoS Flood &amp; Automated Rate-Based Ban</a:t>
            </a:r>
          </a:p>
          <a:p>
            <a:pPr>
              <a:defRPr sz="1150">
                <a:solidFill>
                  <a:srgbClr val="64748B"/>
                </a:solidFill>
              </a:defRPr>
            </a:pPr>
            <a:r>
              <a:t>Simulating 60 rapid parallel requests to trip rate-based ban threshold, demonstrating immediate HTTP 429 quarantine and 300s edge ban.</a:t>
            </a:r>
          </a:p>
        </p:txBody>
      </p:sp>
      <p:sp>
        <p:nvSpPr>
          <p:cNvPr id="11" name="Rounded Rectangle 10"/>
          <p:cNvSpPr/>
          <p:nvPr/>
        </p:nvSpPr>
        <p:spPr>
          <a:xfrm>
            <a:off x="731520" y="5074920"/>
            <a:ext cx="10725912" cy="1051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184648"/>
            <a:ext cx="10149840" cy="822960"/>
          </a:xfrm>
          <a:prstGeom prst="rect">
            <a:avLst/>
          </a:prstGeom>
          <a:noFill/>
        </p:spPr>
        <p:txBody>
          <a:bodyPr wrap="square">
            <a:spAutoFit/>
          </a:bodyPr>
          <a:lstStyle/>
          <a:p>
            <a:pPr>
              <a:spcAft>
                <a:spcPts val="200"/>
              </a:spcAft>
              <a:defRPr sz="1400" b="1">
                <a:solidFill>
                  <a:srgbClr val="0284C7"/>
                </a:solidFill>
              </a:defRPr>
            </a:pPr>
            <a:r>
              <a:t>Step 4: Cloud Logging Telemetry &amp; Forensics Audit Trail</a:t>
            </a:r>
          </a:p>
          <a:p>
            <a:pPr>
              <a:defRPr sz="1150">
                <a:solidFill>
                  <a:srgbClr val="64748B"/>
                </a:solidFill>
              </a:defRPr>
            </a:pPr>
            <a:r>
              <a:t>Inspecting GCP Console Cloud Armor logs in real-time to verify matched rule IDs, priority attributes, client IPs, and forensic audit records.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94960" y="1645920"/>
            <a:ext cx="13716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011680"/>
            <a:ext cx="9448495" cy="3200400"/>
          </a:xfrm>
          <a:prstGeom prst="rect">
            <a:avLst/>
          </a:prstGeom>
          <a:noFill/>
        </p:spPr>
        <p:txBody>
          <a:bodyPr wrap="square">
            <a:spAutoFit/>
          </a:bodyPr>
          <a:lstStyle/>
          <a:p>
            <a:pPr algn="ctr">
              <a:spcAft>
                <a:spcPts val="1600"/>
              </a:spcAft>
              <a:defRPr sz="3600" b="1">
                <a:solidFill>
                  <a:srgbClr val="0F172A"/>
                </a:solidFill>
              </a:defRPr>
            </a:pPr>
            <a:r>
              <a:t>Security at the Edge.</a:t>
            </a:r>
            <a:br/>
            <a:r>
              <a:t>Speed without Compromise.</a:t>
            </a:r>
          </a:p>
          <a:p>
            <a:pPr algn="ctr">
              <a:spcAft>
                <a:spcPts val="1000"/>
              </a:spcAft>
              <a:defRPr sz="1600" b="1">
                <a:solidFill>
                  <a:srgbClr val="0284C7"/>
                </a:solidFill>
              </a:defRPr>
            </a:pPr>
            <a:r>
              <a:t>SMG Enterprise Cloud Engineering Practice  |  Google Cloud Premier Partner</a:t>
            </a:r>
          </a:p>
          <a:p>
            <a:pPr algn="ctr">
              <a:defRPr sz="1300">
                <a:solidFill>
                  <a:srgbClr val="64748B"/>
                </a:solidFill>
              </a:defRPr>
            </a:pPr>
            <a:r>
              <a:t>Proceeding to the live interactive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